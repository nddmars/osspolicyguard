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00584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OSSPolicyGuard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Open Source Risk Intelligence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606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what's in your software. Trust what you ship.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3154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Surya Nalluri · Aluri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3520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August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315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Scale of the Problem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0" y="4892040"/>
            <a:ext cx="2103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Surya Nalluri · Aluri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2743200" cy="2011680"/>
          </a:xfrm>
          <a:prstGeom prst="rect">
            <a:avLst/>
          </a:prstGeom>
          <a:solidFill>
            <a:srgbClr val="1E2761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77724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96%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274320" y="1691640"/>
            <a:ext cx="2743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codebases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 open source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0" y="731520"/>
            <a:ext cx="2743200" cy="2011680"/>
          </a:xfrm>
          <a:prstGeom prst="rect">
            <a:avLst/>
          </a:prstGeom>
          <a:solidFill>
            <a:srgbClr val="1E2761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0" y="77724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77%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3200400" y="1691640"/>
            <a:ext cx="2743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at least one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or high-severity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26480" y="731520"/>
            <a:ext cx="2743200" cy="2011680"/>
          </a:xfrm>
          <a:prstGeom prst="rect">
            <a:avLst/>
          </a:prstGeom>
          <a:solidFill>
            <a:srgbClr val="1E2761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6480" y="77724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$4.5M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6126480" y="1691640"/>
            <a:ext cx="2743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cost of 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breach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(IBM, 2024)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74320" y="2926080"/>
            <a:ext cx="8595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incidents: SolarWinds (18K orgs) · Log4Shell (93% cloud envs) · XZ Utils backdoor · Thousands of malicious npm/PyPI packages annually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74320" y="3611880"/>
            <a:ext cx="8595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"Most security tools stop at the firewall. Your risk lives in your package manager."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315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Teams Manage OSS Risk Today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0" y="4892040"/>
            <a:ext cx="2103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Surya Nalluri · Aluri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2743200" cy="3200400"/>
          </a:xfrm>
          <a:prstGeom prst="rect">
            <a:avLst/>
          </a:prstGeom>
          <a:solidFill>
            <a:srgbClr val="FFF0F0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731520"/>
            <a:ext cx="2743200" cy="4572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749808"/>
            <a:ext cx="2743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Review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1280160"/>
            <a:ext cx="256032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Ad-hoc reviews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A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No consistent scoring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A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Not documented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A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Results vary by reviewer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00400" y="731520"/>
            <a:ext cx="2743200" cy="3200400"/>
          </a:xfrm>
          <a:prstGeom prst="rect">
            <a:avLst/>
          </a:prstGeom>
          <a:solidFill>
            <a:srgbClr val="FFF0F0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00400" y="731520"/>
            <a:ext cx="2743200" cy="4572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0" y="749808"/>
            <a:ext cx="2743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Scanners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291840" y="1280160"/>
            <a:ext cx="256032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CVE-only focus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A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Miss supply chain attacks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A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No geopolitical signal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A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Binary pass/fail only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26480" y="731520"/>
            <a:ext cx="2743200" cy="3200400"/>
          </a:xfrm>
          <a:prstGeom prst="rect">
            <a:avLst/>
          </a:prstGeom>
          <a:solidFill>
            <a:srgbClr val="FFF0F0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26480" y="731520"/>
            <a:ext cx="2743200" cy="4572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26480" y="749808"/>
            <a:ext cx="2743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Quo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217920" y="1280160"/>
            <a:ext cx="256032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Typosquatting undetected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A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No license compliance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A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No unified multi-ecosystem view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A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No policy-as-code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74320" y="4069080"/>
            <a:ext cx="8595360" cy="457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4087368"/>
            <a:ext cx="8595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Reactive, inconsistent, un-auditable OSS governance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457200"/>
            <a:ext cx="8595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Introducing OSSPolicyGuard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274320" y="137160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Automated, Evidence-Based Open Source Risk Intelligence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2651760" cy="2377440"/>
          </a:xfrm>
          <a:prstGeom prst="rect">
            <a:avLst/>
          </a:prstGeom>
          <a:solidFill>
            <a:srgbClr val="0D1542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10312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26517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Evidence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2651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NVD · EPSS · OSV · GitHub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Scorecard · KEV · Geo · Downloads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37560" y="2011680"/>
            <a:ext cx="2651760" cy="2377440"/>
          </a:xfrm>
          <a:prstGeom prst="rect">
            <a:avLst/>
          </a:prstGeom>
          <a:solidFill>
            <a:srgbClr val="0D1542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37560" y="210312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3337560" y="26517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Policy-as-Code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337560" y="3154680"/>
            <a:ext cx="2651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/ REVIEW /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PROHIBITED with audit trail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17920" y="2011680"/>
            <a:ext cx="2651760" cy="2377440"/>
          </a:xfrm>
          <a:prstGeom prst="rect">
            <a:avLst/>
          </a:prstGeom>
          <a:solidFill>
            <a:srgbClr val="0D1542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7920" y="210312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6217920" y="26517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Ecosystems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217920" y="3154680"/>
            <a:ext cx="2651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· PyPI · crates.io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RubyGems · NuGet · Packagist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74320" y="475488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Surya Nalluri · Aluri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315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OSSPolicyGuard Works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0" y="4892040"/>
            <a:ext cx="2103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Surya Nalluri · Aluri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37160" y="731520"/>
            <a:ext cx="1600200" cy="2560320"/>
          </a:xfrm>
          <a:prstGeom prst="rect">
            <a:avLst/>
          </a:prstGeom>
          <a:solidFill>
            <a:srgbClr val="E8F4FD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2940" y="77724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2940" y="804672"/>
            <a:ext cx="5486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82880" y="1417320"/>
            <a:ext cx="1508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Package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82880" y="1874520"/>
            <a:ext cx="15087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version,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ecosystem, criticality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737360" y="169164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►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920240" y="731520"/>
            <a:ext cx="1600200" cy="2560320"/>
          </a:xfrm>
          <a:prstGeom prst="rect">
            <a:avLst/>
          </a:prstGeom>
          <a:solidFill>
            <a:srgbClr val="E8F4FD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446020" y="77724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46020" y="804672"/>
            <a:ext cx="5486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965960" y="1417320"/>
            <a:ext cx="1508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Evidence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965960" y="1874520"/>
            <a:ext cx="15087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parallel providers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NVD · OSV · GitHub · EPSS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520440" y="169164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►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703320" y="731520"/>
            <a:ext cx="1600200" cy="2560320"/>
          </a:xfrm>
          <a:prstGeom prst="rect">
            <a:avLst/>
          </a:prstGeom>
          <a:solidFill>
            <a:srgbClr val="E8F4FD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229100" y="77724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229100" y="804672"/>
            <a:ext cx="5486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3749040" y="1417320"/>
            <a:ext cx="1508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Dimensions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749040" y="1874520"/>
            <a:ext cx="15087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35%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30%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20%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15%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303520" y="169164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►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486400" y="731520"/>
            <a:ext cx="1600200" cy="2560320"/>
          </a:xfrm>
          <a:prstGeom prst="rect">
            <a:avLst/>
          </a:prstGeom>
          <a:solidFill>
            <a:srgbClr val="E8F4FD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12180" y="77724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012180" y="804672"/>
            <a:ext cx="5486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532120" y="1417320"/>
            <a:ext cx="1508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Policy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532120" y="1874520"/>
            <a:ext cx="15087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Mission-Critical vs.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Business-Critical vs.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Non-Critical thresholds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086600" y="169164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►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7269480" y="731520"/>
            <a:ext cx="1600200" cy="2560320"/>
          </a:xfrm>
          <a:prstGeom prst="rect">
            <a:avLst/>
          </a:prstGeom>
          <a:solidFill>
            <a:srgbClr val="E8F4FD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95260" y="77724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95260" y="804672"/>
            <a:ext cx="5486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315200" y="1417320"/>
            <a:ext cx="1508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+ Report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315200" y="1874520"/>
            <a:ext cx="15087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/ REVIEW /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PROHIBITED + SARIF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/ Markdown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274320" y="3474720"/>
            <a:ext cx="8595360" cy="640080"/>
          </a:xfrm>
          <a:prstGeom prst="rect">
            <a:avLst/>
          </a:prstGeom>
          <a:solidFill>
            <a:srgbClr val="E8F4FD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352044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Sample: requests v2.31.0 (PyPI) → Score: 94/100 → Decision: ✅ APPROVED | Risk: Low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315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Evidence Signals — What We Analyze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0" y="4892040"/>
            <a:ext cx="2103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Surya Nalluri · Aluri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37160" y="713232"/>
            <a:ext cx="2103120" cy="1874520"/>
          </a:xfrm>
          <a:prstGeom prst="rect">
            <a:avLst/>
          </a:prstGeom>
          <a:solidFill>
            <a:srgbClr val="F0F8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7160" y="713232"/>
            <a:ext cx="2103120" cy="47548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37160" y="749808"/>
            <a:ext cx="2103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🛡️ CVE Intelligence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82880" y="1234440"/>
            <a:ext cx="20116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NVD API v2 + EPSS exploit probability; CVSSv3.1 with 3-year look-back window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377440" y="713232"/>
            <a:ext cx="2103120" cy="1874520"/>
          </a:xfrm>
          <a:prstGeom prst="rect">
            <a:avLst/>
          </a:prstGeom>
          <a:solidFill>
            <a:srgbClr val="F0F8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377440" y="713232"/>
            <a:ext cx="2103120" cy="47548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377440" y="749808"/>
            <a:ext cx="2103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OSV Advisories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423160" y="1234440"/>
            <a:ext cx="20116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OSV.dev + GHSA + ossf/malicious-packages MAL- detection across all ecosystems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17720" y="713232"/>
            <a:ext cx="2103120" cy="1874520"/>
          </a:xfrm>
          <a:prstGeom prst="rect">
            <a:avLst/>
          </a:prstGeom>
          <a:solidFill>
            <a:srgbClr val="F0F8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617720" y="713232"/>
            <a:ext cx="2103120" cy="47548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17720" y="749808"/>
            <a:ext cx="2103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EPSS Scoring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663440" y="1234440"/>
            <a:ext cx="20116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FIRST.org Exploit Prediction; weighted deduction per weaponisation probability tier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858000" y="713232"/>
            <a:ext cx="2103120" cy="1874520"/>
          </a:xfrm>
          <a:prstGeom prst="rect">
            <a:avLst/>
          </a:prstGeom>
          <a:solidFill>
            <a:srgbClr val="F0F8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858000" y="713232"/>
            <a:ext cx="2103120" cy="47548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0" y="749808"/>
            <a:ext cx="2103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Geopolitical Risk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903720" y="1234440"/>
            <a:ext cx="20116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Contributor locations + commit weighting; configurable high-risk country list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37160" y="2724912"/>
            <a:ext cx="2103120" cy="1874520"/>
          </a:xfrm>
          <a:prstGeom prst="rect">
            <a:avLst/>
          </a:prstGeom>
          <a:solidFill>
            <a:srgbClr val="F0F8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37160" y="2724912"/>
            <a:ext cx="2103120" cy="47548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37160" y="2761488"/>
            <a:ext cx="2103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⭐ Community Adoption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82880" y="3246120"/>
            <a:ext cx="20116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weekly downloads (npm/PyPI) + GitHub stars; ecosystem-specific benchmarks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377440" y="2724912"/>
            <a:ext cx="2103120" cy="1874520"/>
          </a:xfrm>
          <a:prstGeom prst="rect">
            <a:avLst/>
          </a:prstGeom>
          <a:solidFill>
            <a:srgbClr val="F0F8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77440" y="2724912"/>
            <a:ext cx="2103120" cy="47548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77440" y="2761488"/>
            <a:ext cx="2103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OpenSSF Scorecard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2423160" y="3246120"/>
            <a:ext cx="20116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checks: Code-Review, Branch-Protection, SAST, Pinned-Dependencies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617720" y="2724912"/>
            <a:ext cx="2103120" cy="1874520"/>
          </a:xfrm>
          <a:prstGeom prst="rect">
            <a:avLst/>
          </a:prstGeom>
          <a:solidFill>
            <a:srgbClr val="F0F8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617720" y="2724912"/>
            <a:ext cx="2103120" cy="47548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617720" y="2761488"/>
            <a:ext cx="2103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Project Activity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663440" y="3246120"/>
            <a:ext cx="20116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since last commit; staleness buckets from 7 days to 365+ days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858000" y="2724912"/>
            <a:ext cx="2103120" cy="1874520"/>
          </a:xfrm>
          <a:prstGeom prst="rect">
            <a:avLst/>
          </a:prstGeom>
          <a:solidFill>
            <a:srgbClr val="F0F8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858000" y="2724912"/>
            <a:ext cx="2103120" cy="47548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2761488"/>
            <a:ext cx="2103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🚨 CISA KEV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903720" y="3246120"/>
            <a:ext cx="20116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Exploited Vulnerabilities catalog; real-time correlation to package CVEs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315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 Package Ecosystems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0" y="4892040"/>
            <a:ext cx="2103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Surya Nalluri · Aluri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82880" y="685800"/>
            <a:ext cx="1645920" cy="3657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713232"/>
            <a:ext cx="1645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Ecosystem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828800" y="685800"/>
            <a:ext cx="1371600" cy="3657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713232"/>
            <a:ext cx="1371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Registry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0" y="685800"/>
            <a:ext cx="2011680" cy="3657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0" y="713232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Source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212080" y="685800"/>
            <a:ext cx="640080" cy="3657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12080" y="713232"/>
            <a:ext cx="640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OSV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852160" y="685800"/>
            <a:ext cx="2286000" cy="3657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852160" y="713232"/>
            <a:ext cx="2286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82880" y="1051560"/>
            <a:ext cx="1645920" cy="384048"/>
          </a:xfrm>
          <a:prstGeom prst="rect">
            <a:avLst/>
          </a:prstGeom>
          <a:solidFill>
            <a:srgbClr val="F5F9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28600" y="1078992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 / Node.js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828800" y="1051560"/>
            <a:ext cx="1371600" cy="384048"/>
          </a:xfrm>
          <a:prstGeom prst="rect">
            <a:avLst/>
          </a:prstGeom>
          <a:solidFill>
            <a:srgbClr val="F5F9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874520" y="107899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0" y="1051560"/>
            <a:ext cx="2011680" cy="384048"/>
          </a:xfrm>
          <a:prstGeom prst="rect">
            <a:avLst/>
          </a:prstGeom>
          <a:solidFill>
            <a:srgbClr val="F5F9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46120" y="1078992"/>
            <a:ext cx="1920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npmjs.org/downloads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212080" y="1051560"/>
            <a:ext cx="640080" cy="384048"/>
          </a:xfrm>
          <a:prstGeom prst="rect">
            <a:avLst/>
          </a:prstGeom>
          <a:solidFill>
            <a:srgbClr val="F5F9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257800" y="1078992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52160" y="1051560"/>
            <a:ext cx="2286000" cy="384048"/>
          </a:xfrm>
          <a:prstGeom prst="rect">
            <a:avLst/>
          </a:prstGeom>
          <a:solidFill>
            <a:srgbClr val="F5F9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97880" y="1078992"/>
            <a:ext cx="2194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weekly count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82880" y="1453896"/>
            <a:ext cx="16459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28600" y="1481328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828800" y="1453896"/>
            <a:ext cx="13716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874520" y="148132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PyPI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200400" y="1453896"/>
            <a:ext cx="20116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46120" y="1481328"/>
            <a:ext cx="1920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pypistats.org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212080" y="1453896"/>
            <a:ext cx="6400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57800" y="1481328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852160" y="1453896"/>
            <a:ext cx="22860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897880" y="1481328"/>
            <a:ext cx="2194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weekly count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182880" y="1856232"/>
            <a:ext cx="1645920" cy="384048"/>
          </a:xfrm>
          <a:prstGeom prst="rect">
            <a:avLst/>
          </a:prstGeom>
          <a:solidFill>
            <a:srgbClr val="F5F9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28600" y="1883664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1828800" y="1856232"/>
            <a:ext cx="1371600" cy="384048"/>
          </a:xfrm>
          <a:prstGeom prst="rect">
            <a:avLst/>
          </a:prstGeom>
          <a:solidFill>
            <a:srgbClr val="F5F9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874520" y="188366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crates.io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00400" y="1856232"/>
            <a:ext cx="2011680" cy="384048"/>
          </a:xfrm>
          <a:prstGeom prst="rect">
            <a:avLst/>
          </a:prstGeom>
          <a:solidFill>
            <a:srgbClr val="F5F9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46120" y="1883664"/>
            <a:ext cx="1920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crates.io API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212080" y="1856232"/>
            <a:ext cx="640080" cy="384048"/>
          </a:xfrm>
          <a:prstGeom prst="rect">
            <a:avLst/>
          </a:prstGeom>
          <a:solidFill>
            <a:srgbClr val="F5F9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57800" y="1883664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852160" y="1856232"/>
            <a:ext cx="2286000" cy="384048"/>
          </a:xfrm>
          <a:prstGeom prst="rect">
            <a:avLst/>
          </a:prstGeom>
          <a:solidFill>
            <a:srgbClr val="F5F9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897880" y="1883664"/>
            <a:ext cx="2194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90-day window ÷ 13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182880" y="2258568"/>
            <a:ext cx="16459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28600" y="2286000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Ruby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1828800" y="2258568"/>
            <a:ext cx="13716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874520" y="228600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RubyGems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3200400" y="2258568"/>
            <a:ext cx="20116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246120" y="2286000"/>
            <a:ext cx="1920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rubygems.org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5212080" y="2258568"/>
            <a:ext cx="6400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257800" y="2286000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5852160" y="2258568"/>
            <a:ext cx="22860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897880" y="2286000"/>
            <a:ext cx="2194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All-time ÷ 52 (est.)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182880" y="2660904"/>
            <a:ext cx="1645920" cy="384048"/>
          </a:xfrm>
          <a:prstGeom prst="rect">
            <a:avLst/>
          </a:prstGeom>
          <a:solidFill>
            <a:srgbClr val="F5F9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28600" y="2688336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.NET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1828800" y="2660904"/>
            <a:ext cx="1371600" cy="384048"/>
          </a:xfrm>
          <a:prstGeom prst="rect">
            <a:avLst/>
          </a:prstGeom>
          <a:solidFill>
            <a:srgbClr val="F5F9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874520" y="268833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NuGet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3200400" y="2660904"/>
            <a:ext cx="2011680" cy="384048"/>
          </a:xfrm>
          <a:prstGeom prst="rect">
            <a:avLst/>
          </a:prstGeom>
          <a:solidFill>
            <a:srgbClr val="F5F9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246120" y="2688336"/>
            <a:ext cx="1920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nuget.org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212080" y="2660904"/>
            <a:ext cx="640080" cy="384048"/>
          </a:xfrm>
          <a:prstGeom prst="rect">
            <a:avLst/>
          </a:prstGeom>
          <a:solidFill>
            <a:srgbClr val="F5F9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257800" y="2688336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852160" y="2660904"/>
            <a:ext cx="2286000" cy="384048"/>
          </a:xfrm>
          <a:prstGeom prst="rect">
            <a:avLst/>
          </a:prstGeom>
          <a:solidFill>
            <a:srgbClr val="F5F9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897880" y="2688336"/>
            <a:ext cx="2194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÷ 104 (est.)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182880" y="3063240"/>
            <a:ext cx="16459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228600" y="3090672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PHP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1828800" y="3063240"/>
            <a:ext cx="13716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1874520" y="309067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Packagist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3200400" y="3063240"/>
            <a:ext cx="20116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3246120" y="3090672"/>
            <a:ext cx="1920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packagist.org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5212080" y="3063240"/>
            <a:ext cx="6400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257800" y="3090672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5852160" y="3063240"/>
            <a:ext cx="22860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897880" y="3090672"/>
            <a:ext cx="2194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÷ 4 (est.)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182880" y="3465576"/>
            <a:ext cx="1645920" cy="384048"/>
          </a:xfrm>
          <a:prstGeom prst="rect">
            <a:avLst/>
          </a:prstGeom>
          <a:solidFill>
            <a:srgbClr val="F5F9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228600" y="3493008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1828800" y="3465576"/>
            <a:ext cx="1371600" cy="384048"/>
          </a:xfrm>
          <a:prstGeom prst="rect">
            <a:avLst/>
          </a:prstGeom>
          <a:solidFill>
            <a:srgbClr val="F5F9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1874520" y="349300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Maven Central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3200400" y="3465576"/>
            <a:ext cx="2011680" cy="384048"/>
          </a:xfrm>
          <a:prstGeom prst="rect">
            <a:avLst/>
          </a:prstGeom>
          <a:solidFill>
            <a:srgbClr val="F5F9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3246120" y="3493008"/>
            <a:ext cx="1920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5212080" y="3465576"/>
            <a:ext cx="640080" cy="384048"/>
          </a:xfrm>
          <a:prstGeom prst="rect">
            <a:avLst/>
          </a:prstGeom>
          <a:solidFill>
            <a:srgbClr val="F5F9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257800" y="3493008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5852160" y="3465576"/>
            <a:ext cx="2286000" cy="384048"/>
          </a:xfrm>
          <a:prstGeom prst="rect">
            <a:avLst/>
          </a:prstGeom>
          <a:solidFill>
            <a:srgbClr val="F5F9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897880" y="3493008"/>
            <a:ext cx="2194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download API (roadmap)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182880" y="3977640"/>
            <a:ext cx="8778240" cy="502920"/>
          </a:xfrm>
          <a:prstGeom prst="rect">
            <a:avLst/>
          </a:prstGeom>
          <a:solidFill>
            <a:srgbClr val="E8F4FD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274320" y="3995928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Coming soon: Container (OCI) scanning · Private registries (JFrog, Nexus, AWS CodeArtifact) · SBOM generation (CycloneDX 1.5 / SPDX 2.3)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315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Evaluation Output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0" y="4892040"/>
            <a:ext cx="2103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Surya Nalluri · Aluri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82880" y="713232"/>
            <a:ext cx="4572000" cy="4297680"/>
          </a:xfrm>
          <a:prstGeom prst="rect">
            <a:avLst/>
          </a:prstGeom>
          <a:solidFill>
            <a:srgbClr val="1E1E1E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777240"/>
            <a:ext cx="438912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"package": "requests",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"version": "2.31.0",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"ecosystem": "pypi",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"score": 94,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"decision": "APPROVED",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"risk_level": "Low",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"dimensions":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"security": 98,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"activity": 95,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"trust":    88,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"community":92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"malicious_package_detected": false,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"findings": [],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"policy_digest": "sha256:a3f9..."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937760" y="749808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Breakdown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937760" y="123444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 35%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937760" y="1581912"/>
            <a:ext cx="3749040" cy="256032"/>
          </a:xfrm>
          <a:prstGeom prst="rect">
            <a:avLst/>
          </a:prstGeom>
          <a:solidFill>
            <a:srgbClr val="E0E0E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937760" y="1581912"/>
            <a:ext cx="3674059" cy="256032"/>
          </a:xfrm>
          <a:prstGeom prst="rect">
            <a:avLst/>
          </a:prstGeom>
          <a:solidFill>
            <a:srgbClr val="28A745"/>
          </a:solidFill>
          <a:ln w="12700">
            <a:solidFill>
              <a:srgbClr val="28A7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21040" y="123444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8A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98/100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937760" y="201168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 30%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937760" y="2359152"/>
            <a:ext cx="3749040" cy="256032"/>
          </a:xfrm>
          <a:prstGeom prst="rect">
            <a:avLst/>
          </a:prstGeom>
          <a:solidFill>
            <a:srgbClr val="E0E0E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37760" y="2359152"/>
            <a:ext cx="3561588" cy="256032"/>
          </a:xfrm>
          <a:prstGeom prst="rect">
            <a:avLst/>
          </a:prstGeom>
          <a:solidFill>
            <a:srgbClr val="28A745"/>
          </a:solidFill>
          <a:ln w="12700">
            <a:solidFill>
              <a:srgbClr val="28A7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1040" y="20116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8A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95/100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37760" y="278892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    20%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937760" y="3136392"/>
            <a:ext cx="3749040" cy="256032"/>
          </a:xfrm>
          <a:prstGeom prst="rect">
            <a:avLst/>
          </a:prstGeom>
          <a:solidFill>
            <a:srgbClr val="E0E0E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937760" y="3136392"/>
            <a:ext cx="3299155" cy="256032"/>
          </a:xfrm>
          <a:prstGeom prst="rect">
            <a:avLst/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21040" y="278892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A5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88/100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937760" y="35661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15%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937760" y="3913632"/>
            <a:ext cx="3749040" cy="256032"/>
          </a:xfrm>
          <a:prstGeom prst="rect">
            <a:avLst/>
          </a:prstGeom>
          <a:solidFill>
            <a:srgbClr val="E0E0E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937760" y="3913632"/>
            <a:ext cx="3449117" cy="256032"/>
          </a:xfrm>
          <a:prstGeom prst="rect">
            <a:avLst/>
          </a:prstGeom>
          <a:solidFill>
            <a:srgbClr val="28A745"/>
          </a:solidFill>
          <a:ln w="12700">
            <a:solidFill>
              <a:srgbClr val="28A74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321040" y="356616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8A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92/100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937760" y="4343400"/>
            <a:ext cx="3931920" cy="502920"/>
          </a:xfrm>
          <a:prstGeom prst="rect">
            <a:avLst/>
          </a:prstGeom>
          <a:solidFill>
            <a:srgbClr val="28A745"/>
          </a:solidFill>
          <a:ln w="12700">
            <a:solidFill>
              <a:srgbClr val="28A74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37760" y="4370832"/>
            <a:ext cx="393192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Overall: 94/100  ✅ APPROVED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315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OSSPolicyGuard Different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0" y="4892040"/>
            <a:ext cx="2103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Surya Nalluri · Aluri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82880" y="713232"/>
            <a:ext cx="4251960" cy="1965960"/>
          </a:xfrm>
          <a:prstGeom prst="rect">
            <a:avLst/>
          </a:prstGeom>
          <a:solidFill>
            <a:srgbClr val="F0F8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" y="713232"/>
            <a:ext cx="4251960" cy="457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758952"/>
            <a:ext cx="4069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CVEs: Supply Chain Intelligence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74320" y="1261872"/>
            <a:ext cx="40690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typosquatting, dependency confusion, malicious packages, and maintainer credibility degradation — not just known CVEs.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713232"/>
            <a:ext cx="4251960" cy="1965960"/>
          </a:xfrm>
          <a:prstGeom prst="rect">
            <a:avLst/>
          </a:prstGeom>
          <a:solidFill>
            <a:srgbClr val="F0F8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63440" y="713232"/>
            <a:ext cx="4251960" cy="457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0" y="758952"/>
            <a:ext cx="4069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Geopolitical Risk Signal (Unique)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754880" y="1261872"/>
            <a:ext cx="40690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Commit-weighted contributor geolocation; penalty for packages maintained primarily by contributors in high-risk geographies.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82880" y="2816352"/>
            <a:ext cx="4251960" cy="1965960"/>
          </a:xfrm>
          <a:prstGeom prst="rect">
            <a:avLst/>
          </a:prstGeom>
          <a:solidFill>
            <a:srgbClr val="F0F8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82880" y="2816352"/>
            <a:ext cx="4251960" cy="457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2862072"/>
            <a:ext cx="4069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Policy-as-Code with Audit Trail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74320" y="3364992"/>
            <a:ext cx="40690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PolicyBundle with SHA-256 digest — every decision is traceable to a specific policy version. Ready for SOC 2, FedRAMP, PCI-DSS.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663440" y="2816352"/>
            <a:ext cx="4251960" cy="1965960"/>
          </a:xfrm>
          <a:prstGeom prst="rect">
            <a:avLst/>
          </a:prstGeom>
          <a:solidFill>
            <a:srgbClr val="F0F8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63440" y="2816352"/>
            <a:ext cx="4251960" cy="457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0" y="2862072"/>
            <a:ext cx="4069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Criticality-Tiered Decisions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754880" y="3364992"/>
            <a:ext cx="40690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Mission-Critical components get stricter thresholds than utilities. Right risk tolerance for every context in your stack.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315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Landscape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0" y="4892040"/>
            <a:ext cx="2103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Surya Nalluri · Aluri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" y="658368"/>
            <a:ext cx="2194560" cy="411480"/>
          </a:xfrm>
          <a:prstGeom prst="rect">
            <a:avLst/>
          </a:prstGeom>
          <a:solidFill>
            <a:srgbClr val="334060"/>
          </a:solidFill>
          <a:ln w="12700">
            <a:solidFill>
              <a:srgbClr val="33406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" y="676656"/>
            <a:ext cx="219456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286000" y="658368"/>
            <a:ext cx="1463040" cy="4114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0" y="676656"/>
            <a:ext cx="146304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OSSPolicyGuard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49040" y="658368"/>
            <a:ext cx="1097280" cy="411480"/>
          </a:xfrm>
          <a:prstGeom prst="rect">
            <a:avLst/>
          </a:prstGeom>
          <a:solidFill>
            <a:srgbClr val="334060"/>
          </a:solidFill>
          <a:ln w="12700">
            <a:solidFill>
              <a:srgbClr val="33406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49040" y="676656"/>
            <a:ext cx="10972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Snyk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46320" y="658368"/>
            <a:ext cx="1097280" cy="411480"/>
          </a:xfrm>
          <a:prstGeom prst="rect">
            <a:avLst/>
          </a:prstGeom>
          <a:solidFill>
            <a:srgbClr val="334060"/>
          </a:solidFill>
          <a:ln w="12700">
            <a:solidFill>
              <a:srgbClr val="33406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46320" y="676656"/>
            <a:ext cx="10972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FOSSA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43600" y="658368"/>
            <a:ext cx="1188720" cy="411480"/>
          </a:xfrm>
          <a:prstGeom prst="rect">
            <a:avLst/>
          </a:prstGeom>
          <a:solidFill>
            <a:srgbClr val="334060"/>
          </a:solidFill>
          <a:ln w="12700">
            <a:solidFill>
              <a:srgbClr val="33406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0" y="676656"/>
            <a:ext cx="118872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Socket.dev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132320" y="658368"/>
            <a:ext cx="1188720" cy="411480"/>
          </a:xfrm>
          <a:prstGeom prst="rect">
            <a:avLst/>
          </a:prstGeom>
          <a:solidFill>
            <a:srgbClr val="334060"/>
          </a:solidFill>
          <a:ln w="12700">
            <a:solidFill>
              <a:srgbClr val="33406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32320" y="676656"/>
            <a:ext cx="118872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Sonatype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1440" y="1069848"/>
            <a:ext cx="2194560" cy="338328"/>
          </a:xfrm>
          <a:prstGeom prst="rect">
            <a:avLst/>
          </a:prstGeom>
          <a:solidFill>
            <a:srgbClr val="F5F9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7160" y="1088136"/>
            <a:ext cx="21031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CVE Scanning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286000" y="1069848"/>
            <a:ext cx="1463040" cy="338328"/>
          </a:xfrm>
          <a:prstGeom prst="rect">
            <a:avLst/>
          </a:prstGeom>
          <a:solidFill>
            <a:srgbClr val="E8F4FD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331720" y="1088136"/>
            <a:ext cx="1371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8A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749040" y="1069848"/>
            <a:ext cx="1097280" cy="338328"/>
          </a:xfrm>
          <a:prstGeom prst="rect">
            <a:avLst/>
          </a:prstGeom>
          <a:solidFill>
            <a:srgbClr val="F5F9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794760" y="1088136"/>
            <a:ext cx="10058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8A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46320" y="1069848"/>
            <a:ext cx="1097280" cy="338328"/>
          </a:xfrm>
          <a:prstGeom prst="rect">
            <a:avLst/>
          </a:prstGeom>
          <a:solidFill>
            <a:srgbClr val="F5F9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92040" y="1088136"/>
            <a:ext cx="10058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8A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943600" y="1069848"/>
            <a:ext cx="1188720" cy="338328"/>
          </a:xfrm>
          <a:prstGeom prst="rect">
            <a:avLst/>
          </a:prstGeom>
          <a:solidFill>
            <a:srgbClr val="F5F9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89320" y="1088136"/>
            <a:ext cx="10972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8A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132320" y="1069848"/>
            <a:ext cx="1188720" cy="338328"/>
          </a:xfrm>
          <a:prstGeom prst="rect">
            <a:avLst/>
          </a:prstGeom>
          <a:solidFill>
            <a:srgbClr val="F5F9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78040" y="1088136"/>
            <a:ext cx="10972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8A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91440" y="1426464"/>
            <a:ext cx="219456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7160" y="1444752"/>
            <a:ext cx="21031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EPSS Scoring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286000" y="1426464"/>
            <a:ext cx="1463040" cy="338328"/>
          </a:xfrm>
          <a:prstGeom prst="rect">
            <a:avLst/>
          </a:prstGeom>
          <a:solidFill>
            <a:srgbClr val="E8F4FD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31720" y="1444752"/>
            <a:ext cx="1371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8A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749040" y="1426464"/>
            <a:ext cx="109728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794760" y="1444752"/>
            <a:ext cx="10058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846320" y="1426464"/>
            <a:ext cx="109728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92040" y="1444752"/>
            <a:ext cx="10058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943600" y="1426464"/>
            <a:ext cx="118872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89320" y="1444752"/>
            <a:ext cx="10972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132320" y="1426464"/>
            <a:ext cx="118872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178040" y="1444752"/>
            <a:ext cx="10972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91440" y="1783080"/>
            <a:ext cx="2194560" cy="338328"/>
          </a:xfrm>
          <a:prstGeom prst="rect">
            <a:avLst/>
          </a:prstGeom>
          <a:solidFill>
            <a:srgbClr val="F5F9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37160" y="1801368"/>
            <a:ext cx="21031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Geopolitical Risk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2286000" y="1783080"/>
            <a:ext cx="1463040" cy="338328"/>
          </a:xfrm>
          <a:prstGeom prst="rect">
            <a:avLst/>
          </a:prstGeom>
          <a:solidFill>
            <a:srgbClr val="E8F4FD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331720" y="1801368"/>
            <a:ext cx="1371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8A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749040" y="1783080"/>
            <a:ext cx="1097280" cy="338328"/>
          </a:xfrm>
          <a:prstGeom prst="rect">
            <a:avLst/>
          </a:prstGeom>
          <a:solidFill>
            <a:srgbClr val="F5F9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794760" y="1801368"/>
            <a:ext cx="10058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846320" y="1783080"/>
            <a:ext cx="1097280" cy="338328"/>
          </a:xfrm>
          <a:prstGeom prst="rect">
            <a:avLst/>
          </a:prstGeom>
          <a:solidFill>
            <a:srgbClr val="F5F9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92040" y="1801368"/>
            <a:ext cx="10058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5943600" y="1783080"/>
            <a:ext cx="1188720" cy="338328"/>
          </a:xfrm>
          <a:prstGeom prst="rect">
            <a:avLst/>
          </a:prstGeom>
          <a:solidFill>
            <a:srgbClr val="F5F9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989320" y="1801368"/>
            <a:ext cx="10972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7132320" y="1783080"/>
            <a:ext cx="1188720" cy="338328"/>
          </a:xfrm>
          <a:prstGeom prst="rect">
            <a:avLst/>
          </a:prstGeom>
          <a:solidFill>
            <a:srgbClr val="F5F9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178040" y="1801368"/>
            <a:ext cx="10972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91440" y="2139696"/>
            <a:ext cx="219456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37160" y="2157984"/>
            <a:ext cx="21031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Malicious Pkg Detection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2286000" y="2139696"/>
            <a:ext cx="1463040" cy="338328"/>
          </a:xfrm>
          <a:prstGeom prst="rect">
            <a:avLst/>
          </a:prstGeom>
          <a:solidFill>
            <a:srgbClr val="E8F4FD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331720" y="2157984"/>
            <a:ext cx="1371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8A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3749040" y="2139696"/>
            <a:ext cx="109728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794760" y="2157984"/>
            <a:ext cx="10058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846320" y="2139696"/>
            <a:ext cx="109728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892040" y="2157984"/>
            <a:ext cx="10058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943600" y="2139696"/>
            <a:ext cx="118872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989320" y="2157984"/>
            <a:ext cx="10972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8A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7132320" y="2139696"/>
            <a:ext cx="118872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178040" y="2157984"/>
            <a:ext cx="10972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8A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91440" y="2496312"/>
            <a:ext cx="2194560" cy="338328"/>
          </a:xfrm>
          <a:prstGeom prst="rect">
            <a:avLst/>
          </a:prstGeom>
          <a:solidFill>
            <a:srgbClr val="F5F9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37160" y="2514600"/>
            <a:ext cx="21031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 Compliance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2286000" y="2496312"/>
            <a:ext cx="1463040" cy="338328"/>
          </a:xfrm>
          <a:prstGeom prst="rect">
            <a:avLst/>
          </a:prstGeom>
          <a:solidFill>
            <a:srgbClr val="E8F4FD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2331720" y="2514600"/>
            <a:ext cx="1371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3749040" y="2496312"/>
            <a:ext cx="1097280" cy="338328"/>
          </a:xfrm>
          <a:prstGeom prst="rect">
            <a:avLst/>
          </a:prstGeom>
          <a:solidFill>
            <a:srgbClr val="F5F9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3794760" y="2514600"/>
            <a:ext cx="10058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8A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846320" y="2496312"/>
            <a:ext cx="1097280" cy="338328"/>
          </a:xfrm>
          <a:prstGeom prst="rect">
            <a:avLst/>
          </a:prstGeom>
          <a:solidFill>
            <a:srgbClr val="F5F9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892040" y="2514600"/>
            <a:ext cx="10058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8A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5943600" y="2496312"/>
            <a:ext cx="1188720" cy="338328"/>
          </a:xfrm>
          <a:prstGeom prst="rect">
            <a:avLst/>
          </a:prstGeom>
          <a:solidFill>
            <a:srgbClr val="F5F9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989320" y="2514600"/>
            <a:ext cx="10972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7132320" y="2496312"/>
            <a:ext cx="1188720" cy="338328"/>
          </a:xfrm>
          <a:prstGeom prst="rect">
            <a:avLst/>
          </a:prstGeom>
          <a:solidFill>
            <a:srgbClr val="F5F9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7178040" y="2514600"/>
            <a:ext cx="10972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8A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91440" y="2852928"/>
            <a:ext cx="219456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137160" y="2871216"/>
            <a:ext cx="21031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Policy-as-Code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2286000" y="2852928"/>
            <a:ext cx="1463040" cy="338328"/>
          </a:xfrm>
          <a:prstGeom prst="rect">
            <a:avLst/>
          </a:prstGeom>
          <a:solidFill>
            <a:srgbClr val="E8F4FD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2331720" y="2871216"/>
            <a:ext cx="1371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8A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3749040" y="2852928"/>
            <a:ext cx="109728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3794760" y="2871216"/>
            <a:ext cx="10058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8A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4846320" y="2852928"/>
            <a:ext cx="109728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4892040" y="2871216"/>
            <a:ext cx="10058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5943600" y="2852928"/>
            <a:ext cx="118872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5989320" y="2871216"/>
            <a:ext cx="10972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132320" y="2852928"/>
            <a:ext cx="118872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78040" y="2871216"/>
            <a:ext cx="10972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8A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91440" y="3209544"/>
            <a:ext cx="2194560" cy="338328"/>
          </a:xfrm>
          <a:prstGeom prst="rect">
            <a:avLst/>
          </a:prstGeom>
          <a:solidFill>
            <a:srgbClr val="F5F9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137160" y="3227832"/>
            <a:ext cx="21031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SARIF Output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2286000" y="3209544"/>
            <a:ext cx="1463040" cy="338328"/>
          </a:xfrm>
          <a:prstGeom prst="rect">
            <a:avLst/>
          </a:prstGeom>
          <a:solidFill>
            <a:srgbClr val="E8F4FD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2331720" y="3227832"/>
            <a:ext cx="1371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8A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3749040" y="3209544"/>
            <a:ext cx="1097280" cy="338328"/>
          </a:xfrm>
          <a:prstGeom prst="rect">
            <a:avLst/>
          </a:prstGeom>
          <a:solidFill>
            <a:srgbClr val="F5F9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3794760" y="3227832"/>
            <a:ext cx="10058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8A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4846320" y="3209544"/>
            <a:ext cx="1097280" cy="338328"/>
          </a:xfrm>
          <a:prstGeom prst="rect">
            <a:avLst/>
          </a:prstGeom>
          <a:solidFill>
            <a:srgbClr val="F5F9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4892040" y="3227832"/>
            <a:ext cx="10058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5943600" y="3209544"/>
            <a:ext cx="1188720" cy="338328"/>
          </a:xfrm>
          <a:prstGeom prst="rect">
            <a:avLst/>
          </a:prstGeom>
          <a:solidFill>
            <a:srgbClr val="F5F9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5989320" y="3227832"/>
            <a:ext cx="10972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7132320" y="3209544"/>
            <a:ext cx="1188720" cy="338328"/>
          </a:xfrm>
          <a:prstGeom prst="rect">
            <a:avLst/>
          </a:prstGeom>
          <a:solidFill>
            <a:srgbClr val="F5F9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178040" y="3227832"/>
            <a:ext cx="10972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91440" y="3566160"/>
            <a:ext cx="219456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137160" y="3584448"/>
            <a:ext cx="21031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CISA KEV Correlation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2286000" y="3566160"/>
            <a:ext cx="1463040" cy="338328"/>
          </a:xfrm>
          <a:prstGeom prst="rect">
            <a:avLst/>
          </a:prstGeom>
          <a:solidFill>
            <a:srgbClr val="E8F4FD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2331720" y="3584448"/>
            <a:ext cx="1371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8A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3749040" y="3566160"/>
            <a:ext cx="109728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3794760" y="3584448"/>
            <a:ext cx="10058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4846320" y="3566160"/>
            <a:ext cx="109728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892040" y="3584448"/>
            <a:ext cx="10058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5943600" y="3566160"/>
            <a:ext cx="118872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5989320" y="3584448"/>
            <a:ext cx="10972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7132320" y="3566160"/>
            <a:ext cx="118872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7178040" y="3584448"/>
            <a:ext cx="10972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000" dirty="0"/>
          </a:p>
        </p:txBody>
      </p:sp>
      <p:sp>
        <p:nvSpPr>
          <p:cNvPr id="113" name="Shape 111"/>
          <p:cNvSpPr/>
          <p:nvPr/>
        </p:nvSpPr>
        <p:spPr>
          <a:xfrm>
            <a:off x="91440" y="3922776"/>
            <a:ext cx="2194560" cy="338328"/>
          </a:xfrm>
          <a:prstGeom prst="rect">
            <a:avLst/>
          </a:prstGeom>
          <a:solidFill>
            <a:srgbClr val="F5F9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137160" y="3941064"/>
            <a:ext cx="21031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OpenSSF Scorecard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2286000" y="3922776"/>
            <a:ext cx="1463040" cy="338328"/>
          </a:xfrm>
          <a:prstGeom prst="rect">
            <a:avLst/>
          </a:prstGeom>
          <a:solidFill>
            <a:srgbClr val="E8F4FD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2331720" y="3941064"/>
            <a:ext cx="1371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8A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3749040" y="3922776"/>
            <a:ext cx="1097280" cy="338328"/>
          </a:xfrm>
          <a:prstGeom prst="rect">
            <a:avLst/>
          </a:prstGeom>
          <a:solidFill>
            <a:srgbClr val="F5F9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3794760" y="3941064"/>
            <a:ext cx="10058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000" dirty="0"/>
          </a:p>
        </p:txBody>
      </p:sp>
      <p:sp>
        <p:nvSpPr>
          <p:cNvPr id="119" name="Shape 117"/>
          <p:cNvSpPr/>
          <p:nvPr/>
        </p:nvSpPr>
        <p:spPr>
          <a:xfrm>
            <a:off x="4846320" y="3922776"/>
            <a:ext cx="1097280" cy="338328"/>
          </a:xfrm>
          <a:prstGeom prst="rect">
            <a:avLst/>
          </a:prstGeom>
          <a:solidFill>
            <a:srgbClr val="F5F9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4892040" y="3941064"/>
            <a:ext cx="10058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000" dirty="0"/>
          </a:p>
        </p:txBody>
      </p:sp>
      <p:sp>
        <p:nvSpPr>
          <p:cNvPr id="121" name="Shape 119"/>
          <p:cNvSpPr/>
          <p:nvPr/>
        </p:nvSpPr>
        <p:spPr>
          <a:xfrm>
            <a:off x="5943600" y="3922776"/>
            <a:ext cx="1188720" cy="338328"/>
          </a:xfrm>
          <a:prstGeom prst="rect">
            <a:avLst/>
          </a:prstGeom>
          <a:solidFill>
            <a:srgbClr val="F5F9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5989320" y="3941064"/>
            <a:ext cx="10972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8A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123" name="Shape 121"/>
          <p:cNvSpPr/>
          <p:nvPr/>
        </p:nvSpPr>
        <p:spPr>
          <a:xfrm>
            <a:off x="7132320" y="3922776"/>
            <a:ext cx="1188720" cy="338328"/>
          </a:xfrm>
          <a:prstGeom prst="rect">
            <a:avLst/>
          </a:prstGeom>
          <a:solidFill>
            <a:srgbClr val="F5F9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7178040" y="3941064"/>
            <a:ext cx="10972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000" dirty="0"/>
          </a:p>
        </p:txBody>
      </p:sp>
      <p:sp>
        <p:nvSpPr>
          <p:cNvPr id="125" name="Shape 123"/>
          <p:cNvSpPr/>
          <p:nvPr/>
        </p:nvSpPr>
        <p:spPr>
          <a:xfrm>
            <a:off x="91440" y="4279392"/>
            <a:ext cx="219456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137160" y="4297680"/>
            <a:ext cx="21031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</a:t>
            </a:r>
            <a:endParaRPr lang="en-US" sz="1000" dirty="0"/>
          </a:p>
        </p:txBody>
      </p:sp>
      <p:sp>
        <p:nvSpPr>
          <p:cNvPr id="127" name="Shape 125"/>
          <p:cNvSpPr/>
          <p:nvPr/>
        </p:nvSpPr>
        <p:spPr>
          <a:xfrm>
            <a:off x="2286000" y="4279392"/>
            <a:ext cx="1463040" cy="338328"/>
          </a:xfrm>
          <a:prstGeom prst="rect">
            <a:avLst/>
          </a:prstGeom>
          <a:solidFill>
            <a:srgbClr val="E8F4FD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2331720" y="4297680"/>
            <a:ext cx="1371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8A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129" name="Shape 127"/>
          <p:cNvSpPr/>
          <p:nvPr/>
        </p:nvSpPr>
        <p:spPr>
          <a:xfrm>
            <a:off x="3749040" y="4279392"/>
            <a:ext cx="109728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3794760" y="4297680"/>
            <a:ext cx="10058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000" dirty="0"/>
          </a:p>
        </p:txBody>
      </p:sp>
      <p:sp>
        <p:nvSpPr>
          <p:cNvPr id="131" name="Shape 129"/>
          <p:cNvSpPr/>
          <p:nvPr/>
        </p:nvSpPr>
        <p:spPr>
          <a:xfrm>
            <a:off x="4846320" y="4279392"/>
            <a:ext cx="109728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4892040" y="4297680"/>
            <a:ext cx="10058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000" dirty="0"/>
          </a:p>
        </p:txBody>
      </p:sp>
      <p:sp>
        <p:nvSpPr>
          <p:cNvPr id="133" name="Shape 131"/>
          <p:cNvSpPr/>
          <p:nvPr/>
        </p:nvSpPr>
        <p:spPr>
          <a:xfrm>
            <a:off x="5943600" y="4279392"/>
            <a:ext cx="118872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5989320" y="4297680"/>
            <a:ext cx="10972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000" dirty="0"/>
          </a:p>
        </p:txBody>
      </p:sp>
      <p:sp>
        <p:nvSpPr>
          <p:cNvPr id="135" name="Shape 133"/>
          <p:cNvSpPr/>
          <p:nvPr/>
        </p:nvSpPr>
        <p:spPr>
          <a:xfrm>
            <a:off x="7132320" y="4279392"/>
            <a:ext cx="118872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7178040" y="4297680"/>
            <a:ext cx="10972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000" dirty="0"/>
          </a:p>
        </p:txBody>
      </p:sp>
      <p:sp>
        <p:nvSpPr>
          <p:cNvPr id="137" name="Text 135"/>
          <p:cNvSpPr/>
          <p:nvPr/>
        </p:nvSpPr>
        <p:spPr>
          <a:xfrm>
            <a:off x="91440" y="4663440"/>
            <a:ext cx="8961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= Roadmap  ~= Partial  OSSPolicyGuard: only solution combining EPSS + Geopolitical Risk + OpenSSF Scorecard in open-source policy engine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315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Case &amp; ROI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0" y="4892040"/>
            <a:ext cx="2103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Surya Nalluri · Aluri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82880" y="713232"/>
            <a:ext cx="4114800" cy="41605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80467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Without Automation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74320" y="1261872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B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Average OSS breach cost: $4.5M (IBM, 2024)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74320" y="1856232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B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Time to detect supply chain attack: 200+ days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74320" y="2450592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B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Regulatory fines (GDPR non-compliance): up to €20M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74320" y="3044952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B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Manual OSS review cost: $2K–$5K per package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480560" y="713232"/>
            <a:ext cx="4480560" cy="4160520"/>
          </a:xfrm>
          <a:prstGeom prst="rect">
            <a:avLst/>
          </a:prstGeom>
          <a:solidFill>
            <a:srgbClr val="F0FFF4"/>
          </a:solidFill>
          <a:ln w="12700">
            <a:solidFill>
              <a:srgbClr val="28A74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804672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8A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OSSPolicyGuard Value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0" y="1261872"/>
            <a:ext cx="4297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Automated evaluation: &lt; 30 seconds per package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0" y="1856232"/>
            <a:ext cx="4297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Consistent, auditable decisions every time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0" y="2450592"/>
            <a:ext cx="4297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Policy enforcement at CI/CD gate — shift-left security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0" y="3044952"/>
            <a:ext cx="4297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Compliance evidence for SOC 2, FedRAMP, PCI-DSS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0" y="3639312"/>
            <a:ext cx="4297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Open source — zero licensing cost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182880" y="4617720"/>
            <a:ext cx="8778240" cy="0"/>
          </a:xfrm>
          <a:prstGeom prst="rect">
            <a:avLst/>
          </a:prstGeom>
          <a:noFill/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315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Roadmap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0" y="4892040"/>
            <a:ext cx="2103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Surya Nalluri · Aluri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82880" y="713232"/>
            <a:ext cx="1645920" cy="4023360"/>
          </a:xfrm>
          <a:prstGeom prst="rect">
            <a:avLst/>
          </a:prstGeom>
          <a:solidFill>
            <a:srgbClr val="F5F9FF"/>
          </a:solidFill>
          <a:ln w="12700">
            <a:solidFill>
              <a:srgbClr val="28A74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" y="713232"/>
            <a:ext cx="1645920" cy="457200"/>
          </a:xfrm>
          <a:prstGeom prst="rect">
            <a:avLst/>
          </a:prstGeom>
          <a:solidFill>
            <a:srgbClr val="28A745"/>
          </a:solidFill>
          <a:ln w="12700">
            <a:solidFill>
              <a:srgbClr val="28A74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2880" y="731520"/>
            <a:ext cx="16459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28600" y="123444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8A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8A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28600" y="1874520"/>
            <a:ext cx="155448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Engine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OPG-001–065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965960" y="713232"/>
            <a:ext cx="1645920" cy="4023360"/>
          </a:xfrm>
          <a:prstGeom prst="rect">
            <a:avLst/>
          </a:prstGeom>
          <a:solidFill>
            <a:srgbClr val="F5F9FF"/>
          </a:solidFill>
          <a:ln w="12700">
            <a:solidFill>
              <a:srgbClr val="28A74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65960" y="713232"/>
            <a:ext cx="1645920" cy="457200"/>
          </a:xfrm>
          <a:prstGeom prst="rect">
            <a:avLst/>
          </a:prstGeom>
          <a:solidFill>
            <a:srgbClr val="28A745"/>
          </a:solidFill>
          <a:ln w="12700">
            <a:solidFill>
              <a:srgbClr val="28A74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965960" y="731520"/>
            <a:ext cx="16459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011680" y="123444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8A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8A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011680" y="1874520"/>
            <a:ext cx="155448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&amp; Policy Layer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OPG-066–132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749040" y="713232"/>
            <a:ext cx="1645920" cy="4023360"/>
          </a:xfrm>
          <a:prstGeom prst="rect">
            <a:avLst/>
          </a:prstGeom>
          <a:solidFill>
            <a:srgbClr val="F5F9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749040" y="713232"/>
            <a:ext cx="1645920" cy="4572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49040" y="731520"/>
            <a:ext cx="16459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794760" y="123444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2027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794760" y="1874520"/>
            <a:ext cx="155448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 &amp; Supply Chain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OPG-133–147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532120" y="713232"/>
            <a:ext cx="1645920" cy="4023360"/>
          </a:xfrm>
          <a:prstGeom prst="rect">
            <a:avLst/>
          </a:prstGeom>
          <a:solidFill>
            <a:srgbClr val="F5F9FF"/>
          </a:solidFill>
          <a:ln w="12700">
            <a:solidFill>
              <a:srgbClr val="7D3C9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32120" y="713232"/>
            <a:ext cx="1645920" cy="457200"/>
          </a:xfrm>
          <a:prstGeom prst="rect">
            <a:avLst/>
          </a:prstGeom>
          <a:solidFill>
            <a:srgbClr val="7D3C98"/>
          </a:solidFill>
          <a:ln w="12700">
            <a:solidFill>
              <a:srgbClr val="7D3C9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532120" y="731520"/>
            <a:ext cx="16459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577840" y="123444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D3C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7D3C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2027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577840" y="1874520"/>
            <a:ext cx="155448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&amp; SBOM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OPG-148–153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315200" y="713232"/>
            <a:ext cx="1645920" cy="4023360"/>
          </a:xfrm>
          <a:prstGeom prst="rect">
            <a:avLst/>
          </a:prstGeom>
          <a:solidFill>
            <a:srgbClr val="F5F9FF"/>
          </a:solidFill>
          <a:ln w="12700">
            <a:solidFill>
              <a:srgbClr val="8888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315200" y="713232"/>
            <a:ext cx="1645920" cy="457200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15200" y="731520"/>
            <a:ext cx="16459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🔬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360920" y="123444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2027+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360920" y="1874520"/>
            <a:ext cx="155448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&amp; Advanced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OPG-154–157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315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Started Today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0" y="4892040"/>
            <a:ext cx="2103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Surya Nalluri · Aluri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82880" y="713232"/>
            <a:ext cx="4206240" cy="4160520"/>
          </a:xfrm>
          <a:prstGeom prst="rect">
            <a:avLst/>
          </a:prstGeom>
          <a:solidFill>
            <a:srgbClr val="1E1E1E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77724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Start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74320" y="1207008"/>
            <a:ext cx="402336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nddmars/OSSPolicyGuard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-r requirements.txt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config.yaml.example config.yaml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Set GITHUB_TOKEN env var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osspolicyguard scan \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--package requests \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--version 2.31.0 \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--ecosystem pypi \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--format sarif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0" y="713232"/>
            <a:ext cx="4389120" cy="4160520"/>
          </a:xfrm>
          <a:prstGeom prst="rect">
            <a:avLst/>
          </a:prstGeom>
          <a:solidFill>
            <a:srgbClr val="F0FFF4"/>
          </a:solidFill>
          <a:ln w="12700">
            <a:solidFill>
              <a:srgbClr val="28A74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63440" y="804672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8A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Get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663440" y="1280160"/>
            <a:ext cx="4206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Automated risk score (0–100)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663440" y="1783080"/>
            <a:ext cx="4206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APPROVED / REVIEW / PROHIBITED decision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663440" y="2286000"/>
            <a:ext cx="4206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8-signal evidence report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63440" y="2788920"/>
            <a:ext cx="4206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SARIF output for GitHub Security tab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663440" y="3291840"/>
            <a:ext cx="4206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Configurable policy thresholds per criticality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663440" y="3794760"/>
            <a:ext cx="4206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Full audit trail with policy digest (SHA-256)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663440" y="438912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157 requirements · 213 tests · Production-grade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1097280"/>
            <a:ext cx="8595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What's in Your Software.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274320" y="2011680"/>
            <a:ext cx="8595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What You Ship.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274320" y="28346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OSSPolicyGuard — Open Source Security Policy Automation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74320" y="3337560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Surya Nalluri · Aluri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" y="374904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github.com/nddmars/OSSPolicyGuard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2026-08-15T15:10:35Z</dcterms:created>
  <dcterms:modified xsi:type="dcterms:W3CDTF">2026-08-15T15:10:35Z</dcterms:modified>
</cp:coreProperties>
</file>